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1"/>
  </p:notesMasterIdLst>
  <p:sldIdLst>
    <p:sldId id="256" r:id="rId3"/>
    <p:sldId id="257" r:id="rId4"/>
    <p:sldId id="258" r:id="rId5"/>
    <p:sldId id="259" r:id="rId6"/>
    <p:sldId id="266" r:id="rId7"/>
    <p:sldId id="267" r:id="rId8"/>
    <p:sldId id="268" r:id="rId9"/>
    <p:sldId id="265" r:id="rId10"/>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2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3676188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18-08-2026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18-08-2026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18-08-2026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18-08-2026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18-08-2026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18-08-2026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18-08-2026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18-08-2026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1702"/>
            <a:ext cx="10515600" cy="1532002"/>
          </a:xfrm>
        </p:spPr>
        <p:txBody>
          <a:bodyPr>
            <a:noAutofit/>
          </a:bodyPr>
          <a:lstStyle/>
          <a:p>
            <a:pPr algn="ctr">
              <a:lnSpc>
                <a:spcPct val="100000"/>
              </a:lnSpc>
            </a:pPr>
            <a:r>
              <a:rPr lang="da-DK" sz="2400" b="1" dirty="0">
                <a:latin typeface="Times New Roman" panose="02020603050405020304" pitchFamily="18" charset="0"/>
                <a:cs typeface="Times New Roman" panose="02020603050405020304" pitchFamily="18" charset="0"/>
              </a:rPr>
              <a:t/>
            </a:r>
            <a:br>
              <a:rPr lang="da-DK" sz="2400" b="1" dirty="0">
                <a:latin typeface="Times New Roman" panose="02020603050405020304" pitchFamily="18" charset="0"/>
                <a:cs typeface="Times New Roman" panose="02020603050405020304" pitchFamily="18" charset="0"/>
              </a:rPr>
            </a:br>
            <a:r>
              <a:rPr lang="da-DK" sz="2400" b="1" dirty="0">
                <a:solidFill>
                  <a:srgbClr val="00B050"/>
                </a:solidFill>
                <a:latin typeface="Times New Roman" panose="02020603050405020304" pitchFamily="18" charset="0"/>
                <a:cs typeface="Times New Roman" panose="02020603050405020304" pitchFamily="18" charset="0"/>
              </a:rPr>
              <a:t>APPLIED MACHINE LEARNING FOR TEXT ANALYTICS (</a:t>
            </a:r>
            <a:r>
              <a:rPr lang="en-US" sz="2400" b="1" cap="all" dirty="0">
                <a:ln/>
                <a:solidFill>
                  <a:srgbClr val="00B050"/>
                </a:solidFill>
                <a:latin typeface="Calibri"/>
                <a:cs typeface="Poppins" panose="00000500000000000000" pitchFamily="2" charset="0"/>
                <a:sym typeface="BioRhyme ExtraBold"/>
              </a:rPr>
              <a:t>24ALT3101)</a:t>
            </a:r>
            <a:br>
              <a:rPr lang="en-US" sz="2400" b="1" cap="all" dirty="0">
                <a:ln/>
                <a:solidFill>
                  <a:srgbClr val="00B050"/>
                </a:solidFill>
                <a:latin typeface="Calibri"/>
                <a:cs typeface="Poppins" panose="00000500000000000000" pitchFamily="2" charset="0"/>
                <a:sym typeface="BioRhyme ExtraBold"/>
              </a:rPr>
            </a:br>
            <a:r>
              <a:rPr lang="en-US" sz="2400" b="1" dirty="0">
                <a:solidFill>
                  <a:srgbClr val="00B050"/>
                </a:solidFill>
                <a:latin typeface="Times New Roman" panose="02020603050405020304" pitchFamily="18" charset="0"/>
                <a:cs typeface="Times New Roman" panose="02020603050405020304" pitchFamily="18" charset="0"/>
              </a:rPr>
              <a:t>REVIEW – </a:t>
            </a:r>
            <a:r>
              <a:rPr lang="en-US" sz="2400" b="1" dirty="0" smtClean="0">
                <a:solidFill>
                  <a:srgbClr val="00B050"/>
                </a:solidFill>
                <a:latin typeface="Times New Roman" panose="02020603050405020304" pitchFamily="18" charset="0"/>
                <a:cs typeface="Times New Roman" panose="02020603050405020304" pitchFamily="18" charset="0"/>
              </a:rPr>
              <a:t>1</a:t>
            </a:r>
            <a:br>
              <a:rPr lang="en-US" sz="2400" b="1" dirty="0" smtClean="0">
                <a:solidFill>
                  <a:srgbClr val="00B050"/>
                </a:solidFill>
                <a:latin typeface="Times New Roman" panose="02020603050405020304" pitchFamily="18" charset="0"/>
                <a:cs typeface="Times New Roman" panose="02020603050405020304" pitchFamily="18" charset="0"/>
              </a:rPr>
            </a:br>
            <a:r>
              <a:rPr lang="en-US" sz="2400" b="1" dirty="0">
                <a:solidFill>
                  <a:srgbClr val="00B050"/>
                </a:solidFill>
                <a:latin typeface="Times New Roman" panose="02020603050405020304" pitchFamily="18" charset="0"/>
                <a:cs typeface="Times New Roman" panose="02020603050405020304" pitchFamily="18" charset="0"/>
              </a:rPr>
              <a:t/>
            </a:r>
            <a:br>
              <a:rPr lang="en-US" sz="2400" b="1" dirty="0">
                <a:solidFill>
                  <a:srgbClr val="00B050"/>
                </a:solidFill>
                <a:latin typeface="Times New Roman" panose="02020603050405020304" pitchFamily="18" charset="0"/>
                <a:cs typeface="Times New Roman" panose="02020603050405020304" pitchFamily="18" charset="0"/>
              </a:rPr>
            </a:br>
            <a:r>
              <a:rPr lang="en-US" sz="2400" b="1" dirty="0" smtClean="0">
                <a:solidFill>
                  <a:srgbClr val="FF0000"/>
                </a:solidFill>
                <a:latin typeface="Times New Roman" panose="02020603050405020304" pitchFamily="18" charset="0"/>
                <a:cs typeface="Times New Roman" panose="02020603050405020304" pitchFamily="18" charset="0"/>
              </a:rPr>
              <a:t>Retrieval</a:t>
            </a:r>
            <a:r>
              <a:rPr lang="en-US" sz="2400" b="1" dirty="0" smtClean="0">
                <a:solidFill>
                  <a:srgbClr val="FF0000"/>
                </a:solidFill>
                <a:latin typeface="Times New Roman" panose="02020603050405020304" pitchFamily="18" charset="0"/>
                <a:cs typeface="Times New Roman" panose="02020603050405020304" pitchFamily="18" charset="0"/>
              </a:rPr>
              <a:t>-Augmented Generation </a:t>
            </a:r>
            <a:r>
              <a:rPr lang="en-US" sz="2400" b="1" dirty="0" err="1" smtClean="0">
                <a:solidFill>
                  <a:srgbClr val="FF0000"/>
                </a:solidFill>
                <a:latin typeface="Times New Roman" panose="02020603050405020304" pitchFamily="18" charset="0"/>
                <a:cs typeface="Times New Roman" panose="02020603050405020304" pitchFamily="18" charset="0"/>
              </a:rPr>
              <a:t>Chatbot</a:t>
            </a:r>
            <a:r>
              <a:rPr lang="en-US" sz="2400" b="1" dirty="0" smtClean="0">
                <a:solidFill>
                  <a:srgbClr val="FF0000"/>
                </a:solidFill>
                <a:latin typeface="Times New Roman" panose="02020603050405020304" pitchFamily="18" charset="0"/>
                <a:cs typeface="Times New Roman" panose="02020603050405020304" pitchFamily="18" charset="0"/>
              </a:rPr>
              <a:t> for University Academic Assistance</a:t>
            </a:r>
            <a:br>
              <a:rPr lang="en-US" sz="2400" b="1" dirty="0" smtClean="0">
                <a:solidFill>
                  <a:srgbClr val="FF0000"/>
                </a:solidFill>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729242" y="1882025"/>
            <a:ext cx="10624557" cy="2406923"/>
          </a:xfrm>
        </p:spPr>
        <p:txBody>
          <a:bodyPr>
            <a:noAutofit/>
          </a:bodyPr>
          <a:lstStyle/>
          <a:p>
            <a:pPr marL="0" indent="0" algn="ctr">
              <a:buNone/>
            </a:pPr>
            <a:endParaRPr lang="en-IN" sz="2000" b="1" dirty="0"/>
          </a:p>
          <a:p>
            <a:pPr marL="0" indent="0" algn="ctr">
              <a:buNone/>
            </a:pPr>
            <a:r>
              <a:rPr lang="en-IN" sz="2000" b="1" dirty="0"/>
              <a:t>Team </a:t>
            </a:r>
            <a:r>
              <a:rPr lang="en-IN" sz="2000" b="1" dirty="0" smtClean="0"/>
              <a:t>No-17</a:t>
            </a:r>
            <a:endParaRPr lang="en-IN" sz="2000" b="1" dirty="0"/>
          </a:p>
          <a:p>
            <a:pPr marL="0" indent="0" algn="ctr">
              <a:buNone/>
            </a:pPr>
            <a:r>
              <a:rPr lang="en-IN" sz="2000" b="1" dirty="0" smtClean="0"/>
              <a:t>2420030657-K.Akshitha Reddy</a:t>
            </a:r>
          </a:p>
          <a:p>
            <a:pPr marL="0" indent="0" algn="ctr">
              <a:buNone/>
            </a:pPr>
            <a:r>
              <a:rPr lang="en-GB" sz="2000" b="1" dirty="0" smtClean="0"/>
              <a:t>2420030735-G.V.S Hasini</a:t>
            </a:r>
          </a:p>
          <a:p>
            <a:pPr marL="0" indent="0" algn="ctr">
              <a:buNone/>
            </a:pPr>
            <a:r>
              <a:rPr lang="en-GB" sz="2000" b="1" dirty="0" smtClean="0"/>
              <a:t>2420030703-G.Hemalatha</a:t>
            </a: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18-08-2026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b="1" dirty="0">
                <a:solidFill>
                  <a:schemeClr val="accent4"/>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xmlns=""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F12C2661-5AB9-3306-326F-7FD2F83DB2B0}"/>
              </a:ext>
            </a:extLst>
          </p:cNvPr>
          <p:cNvSpPr>
            <a:spLocks noGrp="1"/>
          </p:cNvSpPr>
          <p:nvPr>
            <p:ph type="title"/>
          </p:nvPr>
        </p:nvSpPr>
        <p:spPr>
          <a:xfrm>
            <a:off x="915442" y="146550"/>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5" name="Date Placeholder 4">
            <a:extLst>
              <a:ext uri="{FF2B5EF4-FFF2-40B4-BE49-F238E27FC236}">
                <a16:creationId xmlns:a16="http://schemas.microsoft.com/office/drawing/2014/main" xmlns="" id="{7B8C7DBE-8B58-804A-6C39-91193A7ECF4F}"/>
              </a:ext>
            </a:extLst>
          </p:cNvPr>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a:extLst>
              <a:ext uri="{FF2B5EF4-FFF2-40B4-BE49-F238E27FC236}">
                <a16:creationId xmlns:a16="http://schemas.microsoft.com/office/drawing/2014/main" xmlns=""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xmlns=""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xmlns=""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6" name="Rectangle 2"/>
          <p:cNvSpPr>
            <a:spLocks noGrp="1" noChangeArrowheads="1"/>
          </p:cNvSpPr>
          <p:nvPr>
            <p:ph idx="1"/>
          </p:nvPr>
        </p:nvSpPr>
        <p:spPr bwMode="auto">
          <a:xfrm>
            <a:off x="236537" y="1573655"/>
            <a:ext cx="117189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Universities provide a large amount of academic information such as syllabi, course details, examination schedules, academic regulations, notices, and attendance rules. However, students often find it difficult and time-consuming to search through different websites, portals, and documents to find the exact information they need. To solve this problem, our project proposes a </a:t>
            </a:r>
            <a:r>
              <a:rPr kumimoji="0" lang="en-US" sz="1800" i="0" u="none" strike="noStrike" cap="none" normalizeH="0" baseline="0" dirty="0" smtClean="0">
                <a:ln>
                  <a:noFill/>
                </a:ln>
                <a:solidFill>
                  <a:schemeClr val="tx1"/>
                </a:solidFill>
                <a:effectLst/>
                <a:latin typeface="Arial" panose="020B0604020202020204" pitchFamily="34" charset="0"/>
              </a:rPr>
              <a:t>Retrieval-Augmented Generation (RAG) </a:t>
            </a:r>
            <a:r>
              <a:rPr kumimoji="0" lang="en-US" sz="1800" i="0" u="none" strike="noStrike" cap="none" normalizeH="0" baseline="0" dirty="0" err="1" smtClean="0">
                <a:ln>
                  <a:noFill/>
                </a:ln>
                <a:solidFill>
                  <a:schemeClr val="tx1"/>
                </a:solidFill>
                <a:effectLst/>
                <a:latin typeface="Arial" panose="020B0604020202020204" pitchFamily="34" charset="0"/>
              </a:rPr>
              <a:t>Chatbot</a:t>
            </a:r>
            <a:r>
              <a:rPr kumimoji="0" lang="en-US" sz="1800" i="0" u="none" strike="noStrike" cap="none" normalizeH="0" baseline="0" dirty="0" smtClean="0">
                <a:ln>
                  <a:noFill/>
                </a:ln>
                <a:solidFill>
                  <a:schemeClr val="tx1"/>
                </a:solidFill>
                <a:effectLst/>
                <a:latin typeface="Arial" panose="020B0604020202020204" pitchFamily="34" charset="0"/>
              </a:rPr>
              <a:t> for University Academic Assistance</a:t>
            </a:r>
            <a:r>
              <a:rPr kumimoji="0" lang="en-US" sz="1800" b="0" i="0" u="none" strike="noStrike" cap="none" normalizeH="0" baseline="0" dirty="0" smtClean="0">
                <a:ln>
                  <a:noFill/>
                </a:ln>
                <a:solidFill>
                  <a:schemeClr val="tx1"/>
                </a:solidFill>
                <a:effectLst/>
                <a:latin typeface="Arial" panose="020B0604020202020204" pitchFamily="34" charset="0"/>
              </a:rPr>
              <a:t>, which allows students to ask questions in natural language and receive relevant information quickly.</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The RAG-based </a:t>
            </a:r>
            <a:r>
              <a:rPr kumimoji="0" lang="en-US" sz="1800" b="0" i="0" u="none" strike="noStrike" cap="none" normalizeH="0" baseline="0" dirty="0" err="1" smtClean="0">
                <a:ln>
                  <a:noFill/>
                </a:ln>
                <a:solidFill>
                  <a:schemeClr val="tx1"/>
                </a:solidFill>
                <a:effectLst/>
                <a:latin typeface="Arial" panose="020B0604020202020204" pitchFamily="34" charset="0"/>
              </a:rPr>
              <a:t>chatbot</a:t>
            </a:r>
            <a:r>
              <a:rPr kumimoji="0" lang="en-US" sz="1800" b="0" i="0" u="none" strike="noStrike" cap="none" normalizeH="0" baseline="0" dirty="0" smtClean="0">
                <a:ln>
                  <a:noFill/>
                </a:ln>
                <a:solidFill>
                  <a:schemeClr val="tx1"/>
                </a:solidFill>
                <a:effectLst/>
                <a:latin typeface="Arial" panose="020B0604020202020204" pitchFamily="34" charset="0"/>
              </a:rPr>
              <a:t> first retrieves relevant information from a university knowledge base and then generates an accurate and context-aware response. This helps students access reliable academic information easily while reducing the workload of administrative staff by automatically answering frequently asked questions. The system can be used for queries related to courses, syllabi, examinations, schedules, regulations, and other university academic services.</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xmlns=""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0C946B85-3126-D2FB-6BBE-D431774EDF2B}"/>
              </a:ext>
            </a:extLst>
          </p:cNvPr>
          <p:cNvSpPr>
            <a:spLocks noGrp="1"/>
          </p:cNvSpPr>
          <p:nvPr>
            <p:ph type="title"/>
          </p:nvPr>
        </p:nvSpPr>
        <p:spPr>
          <a:xfrm>
            <a:off x="838200" y="19996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5" name="Date Placeholder 4">
            <a:extLst>
              <a:ext uri="{FF2B5EF4-FFF2-40B4-BE49-F238E27FC236}">
                <a16:creationId xmlns:a16="http://schemas.microsoft.com/office/drawing/2014/main" xmlns="" id="{47AB615F-134B-83C4-E306-B5062B74B49D}"/>
              </a:ext>
            </a:extLst>
          </p:cNvPr>
          <p:cNvSpPr>
            <a:spLocks noGrp="1"/>
          </p:cNvSpPr>
          <p:nvPr>
            <p:ph type="dt" sz="half" idx="10"/>
          </p:nvPr>
        </p:nvSpPr>
        <p:spPr/>
        <p:txBody>
          <a:bodyPr/>
          <a:lstStyle/>
          <a:p>
            <a:fld id="{196CB346-A29B-614A-90B7-3F58220E4132}" type="datetime1">
              <a:rPr lang="en-IN" smtClean="0"/>
              <a:t>18-08-2026</a:t>
            </a:fld>
            <a:endParaRPr lang="en-US"/>
          </a:p>
        </p:txBody>
      </p:sp>
      <p:sp>
        <p:nvSpPr>
          <p:cNvPr id="7" name="Slide Number Placeholder 6">
            <a:extLst>
              <a:ext uri="{FF2B5EF4-FFF2-40B4-BE49-F238E27FC236}">
                <a16:creationId xmlns:a16="http://schemas.microsoft.com/office/drawing/2014/main" xmlns=""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xmlns=""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xmlns="" id="{EB56FACB-3BE6-7710-5AF6-30246594A4B1}"/>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3" name="Rectangle 1"/>
          <p:cNvSpPr>
            <a:spLocks noGrp="1" noChangeArrowheads="1"/>
          </p:cNvSpPr>
          <p:nvPr>
            <p:ph idx="1"/>
          </p:nvPr>
        </p:nvSpPr>
        <p:spPr bwMode="auto">
          <a:xfrm>
            <a:off x="390143" y="1443158"/>
            <a:ext cx="1119982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sz="1800" b="1" i="0" u="none" strike="noStrike" cap="none" normalizeH="0" baseline="0" dirty="0" smtClean="0">
                <a:ln>
                  <a:noFill/>
                </a:ln>
                <a:solidFill>
                  <a:schemeClr val="tx1"/>
                </a:solidFill>
                <a:effectLst/>
                <a:latin typeface="Arial" panose="020B0604020202020204" pitchFamily="34" charset="0"/>
              </a:rPr>
              <a:t>To develop an intelligent RAG-based </a:t>
            </a:r>
            <a:r>
              <a:rPr kumimoji="0" lang="en-US" sz="1800" b="1" i="0" u="none" strike="noStrike" cap="none" normalizeH="0" baseline="0" dirty="0" err="1" smtClean="0">
                <a:ln>
                  <a:noFill/>
                </a:ln>
                <a:solidFill>
                  <a:schemeClr val="tx1"/>
                </a:solidFill>
                <a:effectLst/>
                <a:latin typeface="Arial" panose="020B0604020202020204" pitchFamily="34" charset="0"/>
              </a:rPr>
              <a:t>chatbot</a:t>
            </a:r>
            <a:r>
              <a:rPr kumimoji="0" lang="en-US" sz="1800" b="0" i="0" u="none" strike="noStrike" cap="none" normalizeH="0" baseline="0" dirty="0" smtClean="0">
                <a:ln>
                  <a:noFill/>
                </a:ln>
                <a:solidFill>
                  <a:schemeClr val="tx1"/>
                </a:solidFill>
                <a:effectLst/>
                <a:latin typeface="Arial" panose="020B0604020202020204" pitchFamily="34" charset="0"/>
              </a:rPr>
              <a:t> that provides accurate and context-aware answers to university-related academic queries.</a:t>
            </a:r>
          </a:p>
          <a:p>
            <a:pPr eaLnBrk="0" fontAlgn="base" hangingPunct="0">
              <a:lnSpc>
                <a:spcPct val="100000"/>
              </a:lnSpc>
              <a:spcBef>
                <a:spcPct val="0"/>
              </a:spcBef>
              <a:spcAft>
                <a:spcPct val="0"/>
              </a:spcAf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1" i="0" u="none" strike="noStrike" cap="none" normalizeH="0" baseline="0" dirty="0" smtClean="0">
                <a:ln>
                  <a:noFill/>
                </a:ln>
                <a:solidFill>
                  <a:schemeClr val="tx1"/>
                </a:solidFill>
                <a:effectLst/>
                <a:latin typeface="Arial" panose="020B0604020202020204" pitchFamily="34" charset="0"/>
              </a:rPr>
              <a:t>To enable students to quickly access academic information</a:t>
            </a:r>
            <a:r>
              <a:rPr kumimoji="0" lang="en-US" sz="1800" b="0" i="0" u="none" strike="noStrike" cap="none" normalizeH="0" baseline="0" dirty="0" smtClean="0">
                <a:ln>
                  <a:noFill/>
                </a:ln>
                <a:solidFill>
                  <a:schemeClr val="tx1"/>
                </a:solidFill>
                <a:effectLst/>
                <a:latin typeface="Arial" panose="020B0604020202020204" pitchFamily="34" charset="0"/>
              </a:rPr>
              <a:t> such as course details, syllabus, examination schedules, academic regulations, and university resources.</a:t>
            </a:r>
          </a:p>
          <a:p>
            <a:pPr eaLnBrk="0" fontAlgn="base" hangingPunct="0">
              <a:lnSpc>
                <a:spcPct val="100000"/>
              </a:lnSpc>
              <a:spcBef>
                <a:spcPct val="0"/>
              </a:spcBef>
              <a:spcAft>
                <a:spcPct val="0"/>
              </a:spcAf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1" i="0" u="none" strike="noStrike" cap="none" normalizeH="0" baseline="0" dirty="0" smtClean="0">
                <a:ln>
                  <a:noFill/>
                </a:ln>
                <a:solidFill>
                  <a:schemeClr val="tx1"/>
                </a:solidFill>
                <a:effectLst/>
                <a:latin typeface="Arial" panose="020B0604020202020204" pitchFamily="34" charset="0"/>
              </a:rPr>
              <a:t>To reduce the workload of university administrative staff</a:t>
            </a:r>
            <a:r>
              <a:rPr kumimoji="0" lang="en-US" sz="1800" b="0" i="0" u="none" strike="noStrike" cap="none" normalizeH="0" baseline="0" dirty="0" smtClean="0">
                <a:ln>
                  <a:noFill/>
                </a:ln>
                <a:solidFill>
                  <a:schemeClr val="tx1"/>
                </a:solidFill>
                <a:effectLst/>
                <a:latin typeface="Arial" panose="020B0604020202020204" pitchFamily="34" charset="0"/>
              </a:rPr>
              <a:t> by automating responses to frequently asked student queries.</a:t>
            </a:r>
          </a:p>
          <a:p>
            <a:pPr marL="0" indent="0" eaLnBrk="0" fontAlgn="base" hangingPunct="0">
              <a:lnSpc>
                <a:spcPct val="100000"/>
              </a:lnSpc>
              <a:spcBef>
                <a:spcPct val="0"/>
              </a:spcBef>
              <a:spcAft>
                <a:spcPct val="0"/>
              </a:spcAft>
              <a:buNone/>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1" i="0" u="none" strike="noStrike" cap="none" normalizeH="0" baseline="0" dirty="0" smtClean="0">
                <a:ln>
                  <a:noFill/>
                </a:ln>
                <a:solidFill>
                  <a:schemeClr val="tx1"/>
                </a:solidFill>
                <a:effectLst/>
                <a:latin typeface="Arial" panose="020B0604020202020204" pitchFamily="34" charset="0"/>
              </a:rPr>
              <a:t>To improve the accuracy and reliability of responses</a:t>
            </a:r>
            <a:r>
              <a:rPr kumimoji="0" lang="en-US" sz="1800" b="0" i="0" u="none" strike="noStrike" cap="none" normalizeH="0" baseline="0" dirty="0" smtClean="0">
                <a:ln>
                  <a:noFill/>
                </a:ln>
                <a:solidFill>
                  <a:schemeClr val="tx1"/>
                </a:solidFill>
                <a:effectLst/>
                <a:latin typeface="Arial" panose="020B0604020202020204" pitchFamily="34" charset="0"/>
              </a:rPr>
              <a:t> by retrieving relevant information from a university knowledge base before generating answers.</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p:cNvSpPr>
            <a:spLocks noGrp="1"/>
          </p:cNvSpPr>
          <p:nvPr>
            <p:ph type="ftr" sz="quarter" idx="11"/>
          </p:nvPr>
        </p:nvSpPr>
        <p:spPr/>
        <p:txBody>
          <a:bodyPr/>
          <a:lstStyle/>
          <a:p>
            <a:r>
              <a:rPr lang="en-US" smtClean="0"/>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5</a:t>
            </a:fld>
            <a:endParaRPr lang="en-US"/>
          </a:p>
        </p:txBody>
      </p:sp>
      <p:sp>
        <p:nvSpPr>
          <p:cNvPr id="7" name="Rectangle 1"/>
          <p:cNvSpPr>
            <a:spLocks noGrp="1" noChangeArrowheads="1"/>
          </p:cNvSpPr>
          <p:nvPr>
            <p:ph idx="1"/>
          </p:nvPr>
        </p:nvSpPr>
        <p:spPr bwMode="auto">
          <a:xfrm>
            <a:off x="582168" y="1920187"/>
            <a:ext cx="1128674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Existing university assistance systems mainly rely on static websites, FAQ pages, and traditional </a:t>
            </a:r>
            <a:r>
              <a:rPr kumimoji="0" lang="en-US" sz="1800" b="0" i="0" u="none" strike="noStrike" cap="none" normalizeH="0" baseline="0" dirty="0" err="1" smtClean="0">
                <a:ln>
                  <a:noFill/>
                </a:ln>
                <a:solidFill>
                  <a:schemeClr val="tx1"/>
                </a:solidFill>
                <a:effectLst/>
                <a:latin typeface="Arial" panose="020B0604020202020204" pitchFamily="34" charset="0"/>
              </a:rPr>
              <a:t>chatbots</a:t>
            </a:r>
            <a:r>
              <a:rPr kumimoji="0" lang="en-US" sz="1800" b="0" i="0" u="none" strike="noStrike" cap="none" normalizeH="0" baseline="0" dirty="0" smtClean="0">
                <a:ln>
                  <a:noFill/>
                </a:ln>
                <a:solidFill>
                  <a:schemeClr val="tx1"/>
                </a:solidFill>
                <a:effectLst/>
                <a:latin typeface="Arial" panose="020B0604020202020204" pitchFamily="34" charset="0"/>
              </a:rPr>
              <a:t> to provide information to students. These systems often provide predefined responses and may not effectively handle complex or context-specific queries. Recent developments in Natural Language Processing and Large Language Models have improved the ability of </a:t>
            </a:r>
            <a:r>
              <a:rPr kumimoji="0" lang="en-US" sz="1800" b="0" i="0" u="none" strike="noStrike" cap="none" normalizeH="0" baseline="0" dirty="0" err="1" smtClean="0">
                <a:ln>
                  <a:noFill/>
                </a:ln>
                <a:solidFill>
                  <a:schemeClr val="tx1"/>
                </a:solidFill>
                <a:effectLst/>
                <a:latin typeface="Arial" panose="020B0604020202020204" pitchFamily="34" charset="0"/>
              </a:rPr>
              <a:t>chatbots</a:t>
            </a:r>
            <a:r>
              <a:rPr kumimoji="0" lang="en-US" sz="1800" b="0" i="0" u="none" strike="noStrike" cap="none" normalizeH="0" baseline="0" dirty="0" smtClean="0">
                <a:ln>
                  <a:noFill/>
                </a:ln>
                <a:solidFill>
                  <a:schemeClr val="tx1"/>
                </a:solidFill>
                <a:effectLst/>
                <a:latin typeface="Arial" panose="020B0604020202020204" pitchFamily="34" charset="0"/>
              </a:rPr>
              <a:t> to understand user questions and generate human-like responses. However, traditional AI </a:t>
            </a:r>
            <a:r>
              <a:rPr kumimoji="0" lang="en-US" sz="1800" b="0" i="0" u="none" strike="noStrike" cap="none" normalizeH="0" baseline="0" dirty="0" err="1" smtClean="0">
                <a:ln>
                  <a:noFill/>
                </a:ln>
                <a:solidFill>
                  <a:schemeClr val="tx1"/>
                </a:solidFill>
                <a:effectLst/>
                <a:latin typeface="Arial" panose="020B0604020202020204" pitchFamily="34" charset="0"/>
              </a:rPr>
              <a:t>chatbots</a:t>
            </a:r>
            <a:r>
              <a:rPr kumimoji="0" lang="en-US" sz="1800" b="0" i="0" u="none" strike="noStrike" cap="none" normalizeH="0" baseline="0" dirty="0" smtClean="0">
                <a:ln>
                  <a:noFill/>
                </a:ln>
                <a:solidFill>
                  <a:schemeClr val="tx1"/>
                </a:solidFill>
                <a:effectLst/>
                <a:latin typeface="Arial" panose="020B0604020202020204" pitchFamily="34" charset="0"/>
              </a:rPr>
              <a:t> may produce inaccurate information because they do not always use verified university-specific data. Retrieval-Augmented Generation (RAG) addresses this limitation by retrieving relevant information from a trusted knowledge base before generating a response. Therefore, this project combines information retrieval and generative AI to provide more accurate, relevant, and reliable academic assistance.</a:t>
            </a:r>
          </a:p>
        </p:txBody>
      </p:sp>
    </p:spTree>
    <p:extLst>
      <p:ext uri="{BB962C8B-B14F-4D97-AF65-F5344CB8AC3E}">
        <p14:creationId xmlns:p14="http://schemas.microsoft.com/office/powerpoint/2010/main" val="1251390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896" y="72517"/>
            <a:ext cx="10515600" cy="1325563"/>
          </a:xfrm>
        </p:spPr>
        <p:txBody>
          <a:bodyPr/>
          <a:lstStyle/>
          <a:p>
            <a:pPr marL="514350" indent="-514350" algn="ctr"/>
            <a:r>
              <a:rPr lang="en-IN" b="1" dirty="0">
                <a:latin typeface="Times New Roman" panose="02020603050405020304" pitchFamily="18" charset="0"/>
                <a:cs typeface="Times New Roman" panose="02020603050405020304" pitchFamily="18" charset="0"/>
              </a:rPr>
              <a:t>Proposed Method</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p:cNvSpPr>
            <a:spLocks noGrp="1"/>
          </p:cNvSpPr>
          <p:nvPr>
            <p:ph type="ftr" sz="quarter" idx="11"/>
          </p:nvPr>
        </p:nvSpPr>
        <p:spPr/>
        <p:txBody>
          <a:bodyPr/>
          <a:lstStyle/>
          <a:p>
            <a:r>
              <a:rPr lang="en-US" smtClean="0"/>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6</a:t>
            </a:fld>
            <a:endParaRPr lang="en-US"/>
          </a:p>
        </p:txBody>
      </p:sp>
      <p:pic>
        <p:nvPicPr>
          <p:cNvPr id="8" name="Content Placeholder 7"/>
          <p:cNvPicPr>
            <a:picLocks noGrp="1" noChangeAspect="1"/>
          </p:cNvPicPr>
          <p:nvPr>
            <p:ph idx="1"/>
          </p:nvPr>
        </p:nvPicPr>
        <p:blipFill>
          <a:blip r:embed="rId2"/>
          <a:stretch>
            <a:fillRect/>
          </a:stretch>
        </p:blipFill>
        <p:spPr>
          <a:xfrm>
            <a:off x="433578" y="1149274"/>
            <a:ext cx="11324844" cy="5110766"/>
          </a:xfrm>
          <a:prstGeom prst="rect">
            <a:avLst/>
          </a:prstGeom>
        </p:spPr>
      </p:pic>
    </p:spTree>
    <p:extLst>
      <p:ext uri="{BB962C8B-B14F-4D97-AF65-F5344CB8AC3E}">
        <p14:creationId xmlns:p14="http://schemas.microsoft.com/office/powerpoint/2010/main" val="4106841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3232"/>
            <a:ext cx="10515600" cy="1215200"/>
          </a:xfrm>
        </p:spPr>
        <p:txBody>
          <a:bodyPr>
            <a:noAutofit/>
          </a:bodyPr>
          <a:lstStyle/>
          <a:p>
            <a:pPr algn="ctr"/>
            <a:r>
              <a:rPr lang="en-IN" b="1" dirty="0">
                <a:latin typeface="Times New Roman" panose="02020603050405020304" pitchFamily="18" charset="0"/>
                <a:cs typeface="Times New Roman" panose="02020603050405020304" pitchFamily="18" charset="0"/>
              </a:rPr>
              <a:t>Conclusion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sp>
        <p:nvSpPr>
          <p:cNvPr id="4" name="Date Placeholder 3"/>
          <p:cNvSpPr>
            <a:spLocks noGrp="1"/>
          </p:cNvSpPr>
          <p:nvPr>
            <p:ph type="dt" sz="half" idx="10"/>
          </p:nvPr>
        </p:nvSpPr>
        <p:spPr/>
        <p:txBody>
          <a:bodyPr/>
          <a:lstStyle/>
          <a:p>
            <a:fld id="{C7A4DE8B-8D6B-8C46-B882-6A2CD2BC96F0}" type="datetime1">
              <a:rPr lang="en-IN" smtClean="0"/>
              <a:t>18-08-2026</a:t>
            </a:fld>
            <a:endParaRPr lang="en-US"/>
          </a:p>
        </p:txBody>
      </p:sp>
      <p:sp>
        <p:nvSpPr>
          <p:cNvPr id="5" name="Footer Placeholder 4"/>
          <p:cNvSpPr>
            <a:spLocks noGrp="1"/>
          </p:cNvSpPr>
          <p:nvPr>
            <p:ph type="ftr" sz="quarter" idx="11"/>
          </p:nvPr>
        </p:nvSpPr>
        <p:spPr/>
        <p:txBody>
          <a:bodyPr/>
          <a:lstStyle/>
          <a:p>
            <a:r>
              <a:rPr lang="en-US" smtClean="0"/>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7</a:t>
            </a:fld>
            <a:endParaRPr lang="en-US"/>
          </a:p>
        </p:txBody>
      </p:sp>
      <p:sp>
        <p:nvSpPr>
          <p:cNvPr id="9" name="Rectangle 3"/>
          <p:cNvSpPr>
            <a:spLocks noGrp="1" noChangeArrowheads="1"/>
          </p:cNvSpPr>
          <p:nvPr>
            <p:ph idx="1"/>
          </p:nvPr>
        </p:nvSpPr>
        <p:spPr bwMode="auto">
          <a:xfrm>
            <a:off x="632070" y="1670938"/>
            <a:ext cx="10927859" cy="2868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The </a:t>
            </a:r>
            <a:r>
              <a:rPr kumimoji="0" lang="en-US" sz="1800" i="0" u="none" strike="noStrike" cap="none" normalizeH="0" baseline="0" dirty="0" smtClean="0">
                <a:ln>
                  <a:noFill/>
                </a:ln>
                <a:solidFill>
                  <a:schemeClr val="tx1"/>
                </a:solidFill>
                <a:effectLst/>
                <a:latin typeface="Arial" panose="020B0604020202020204" pitchFamily="34" charset="0"/>
              </a:rPr>
              <a:t>Retrieval-Augmented Generation (RAG) </a:t>
            </a:r>
            <a:r>
              <a:rPr kumimoji="0" lang="en-US" sz="1800" i="0" u="none" strike="noStrike" cap="none" normalizeH="0" baseline="0" dirty="0" err="1" smtClean="0">
                <a:ln>
                  <a:noFill/>
                </a:ln>
                <a:solidFill>
                  <a:schemeClr val="tx1"/>
                </a:solidFill>
                <a:effectLst/>
                <a:latin typeface="Arial" panose="020B0604020202020204" pitchFamily="34" charset="0"/>
              </a:rPr>
              <a:t>Chatbot</a:t>
            </a:r>
            <a:r>
              <a:rPr kumimoji="0" lang="en-US" sz="1800" i="0" u="none" strike="noStrike" cap="none" normalizeH="0" baseline="0" dirty="0" smtClean="0">
                <a:ln>
                  <a:noFill/>
                </a:ln>
                <a:solidFill>
                  <a:schemeClr val="tx1"/>
                </a:solidFill>
                <a:effectLst/>
                <a:latin typeface="Arial" panose="020B0604020202020204" pitchFamily="34" charset="0"/>
              </a:rPr>
              <a:t> for University Academic Assistance</a:t>
            </a:r>
            <a:r>
              <a:rPr kumimoji="0" lang="en-US" sz="1800" b="0" i="0" u="none" strike="noStrike" cap="none" normalizeH="0" baseline="0" dirty="0" smtClean="0">
                <a:ln>
                  <a:noFill/>
                </a:ln>
                <a:solidFill>
                  <a:schemeClr val="tx1"/>
                </a:solidFill>
                <a:effectLst/>
                <a:latin typeface="Arial" panose="020B0604020202020204" pitchFamily="34" charset="0"/>
              </a:rPr>
              <a:t> provides an effective solution for students to access university-related information such as syllabi, course details, examination schedules, academic regulations, and notices. By retrieving relevant information from the university knowledge base before generating a response, the system can provide more accurate, relevant, and context-aware answers.</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rPr>
              <a:t>Overall, the proposed system saves time for students, reduces the need to search through multiple documents and websites, and helps reduce the workload of administrative staff by answering frequently asked questions. The project improves the accessibility of academic information and provides a simple, efficient, and user-friendly platform for university academic assistance.</a:t>
            </a:r>
          </a:p>
        </p:txBody>
      </p:sp>
    </p:spTree>
    <p:extLst>
      <p:ext uri="{BB962C8B-B14F-4D97-AF65-F5344CB8AC3E}">
        <p14:creationId xmlns:p14="http://schemas.microsoft.com/office/powerpoint/2010/main" val="3448462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18-08-2026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xmlns=""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327</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Arial</vt:lpstr>
      <vt:lpstr>BioRhyme ExtraBold</vt:lpstr>
      <vt:lpstr>Calibri</vt:lpstr>
      <vt:lpstr>Calibri Light</vt:lpstr>
      <vt:lpstr>Poppins</vt:lpstr>
      <vt:lpstr>Times New Roman</vt:lpstr>
      <vt:lpstr>Office Theme</vt:lpstr>
      <vt:lpstr>Custom Design</vt:lpstr>
      <vt:lpstr> APPLIED MACHINE LEARNING FOR TEXT ANALYTICS (24ALT3101) REVIEW – 1  Retrieval-Augmented Generation Chatbot for University Academic Assistance </vt:lpstr>
      <vt:lpstr>OUTLINE</vt:lpstr>
      <vt:lpstr>Introduction</vt:lpstr>
      <vt:lpstr>Objectives </vt:lpstr>
      <vt:lpstr>Literature Survey</vt:lpstr>
      <vt:lpstr>Proposed Method</vt:lpstr>
      <vt:lpstr>Conclusion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1  Project Title</dc:title>
  <dc:creator>DELL</dc:creator>
  <cp:lastModifiedBy>hasini</cp:lastModifiedBy>
  <cp:revision>6</cp:revision>
  <dcterms:modified xsi:type="dcterms:W3CDTF">2026-08-18T08:47:27Z</dcterms:modified>
</cp:coreProperties>
</file>